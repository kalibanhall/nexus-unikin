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CALENDRIER NUMÉRISATION UNIKIN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NEXUS UNIKIN -- Université de Kinshasa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État d'avancement et planification opérationnelle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Début : </a:t>
            </a:r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Janvier 2026   |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Échéance : </a:t>
            </a:r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Avril 2026   |  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Mise à jour : </a:t>
            </a:r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Février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BILAN AU 13 FÉVRIER 2026 -- CHIFFRES CLÉS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50 407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Étudiants intégrés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Départements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56032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Promotions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657600"/>
            <a:ext cx="256032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93 349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29184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Paiements importés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256032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931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126480" y="4846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Plateforme en ligne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 QUI A ÉTÉ ACCOMPLI (Semaines 1-3)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57200"/>
          </a:xfrm>
          <a:prstGeom prst="rect">
            <a:avLst>
              <a:gd name="adj" fmla="val 10000"/>
            </a:avLst>
          </a:prstGeom>
          <a:solidFill>
            <a:srgbClr val="2E6B9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: 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Serveur VPS provisionné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Next.js 14 + PostgreSQL + PM2 + Nginx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Système d'authentification JWT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Compte Super Admin créé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828800" cy="320040"/>
          </a:xfrm>
          <a:prstGeom prst="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457200"/>
          </a:xfrm>
          <a:prstGeom prst="rect">
            <a:avLst>
              <a:gd name="adj" fmla="val 10000"/>
            </a:avLst>
          </a:prstGeom>
          <a:solidFill>
            <a:srgbClr val="2E6B9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: Intégration données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50 407 étudiants avec matricules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93 349 paiements (USD + CDF)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15 facultés, 134 départements, 503 promotions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Passerelle d'activation opérationnelle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3200400"/>
            <a:ext cx="1828800" cy="320040"/>
          </a:xfrm>
          <a:prstGeom prst="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457200"/>
          </a:xfrm>
          <a:prstGeom prst="rect">
            <a:avLst>
              <a:gd name="adj" fmla="val 10000"/>
            </a:avLst>
          </a:prstGeom>
          <a:solidFill>
            <a:srgbClr val="2E6B9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 : Modules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Tableaux de bord (étudiant, enseignant, admin)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Finances, notes, présences, évaluations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Emploi du temps, messagerie, bibliothèque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 11 corrections UI/UX déployées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200400"/>
            <a:ext cx="1828800" cy="320040"/>
          </a:xfrm>
          <a:prstGeom prst="rect">
            <a:avLst>
              <a:gd name="adj" fmla="val 14286"/>
            </a:avLst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218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FACULTÉS -- RÉPARTITION DES EFFECTIFS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731520"/>
                <a:gridCol w="109728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Faculté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Dépt.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Étudiants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Semaine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FDROIT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10 823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S4 (16-20 fév.)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FSEG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8 530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S4 (16-20 fév.)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FMED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6 525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S4 (16-20 fév.)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4 758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S5 (23-27 fév.)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FPSE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3 005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S5 (23-27 fév.)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FSSAP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2 990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S5 (23-27 fév.)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FLSH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2 268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S6 (2-6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FMEDD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1 554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S6 (2-6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FSAE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1 510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S6 (2-6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FSPHAR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1 197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S7 (9-13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FPGER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850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S7 (9-13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FPOLY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744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S7 (9-13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FMEDV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S8 (16-18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ESPD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S8 (16-18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FSC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S8 (16-18 mars)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3A5C"/>
                          </a:solidFill>
                        </a:rPr>
                        <a:t>50 407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S4 -- Lundi 16 au Vendredi 20 Février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Facultés : DROIT (10 823) / FSEG (8 530) / MÉDECINE (6 525)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25 878 étudiants concernés (51% du total)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Lundi 16 -- Formation des points focaux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Briefing d'ouverture - Présentation de NEXUS aux doyens et vice-doyens des 3 facultés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Désignation des points focaux - 1 point focal par département (36 départements)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14h00-16h30  |  Formation points focaux Session 1 : Connexion, navigation, gestion des étudiants, consultation des paiements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5511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16h30-17h00  |  Distribution des guides d'utilisation imprimés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898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Mardi 17 -- Formation enseignants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Formation enseignants FDROIT : Encodage des notes, gestion des présences, codes de validation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Formation enseignants FSEG : Même programme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14h00-16h00  |  Formation enseignants FMED : Même programme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16h00-17h00  |  Formation personnel administratif : Gestion des bordereaux, vérification des paiements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433425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Mercredi 18 -- Formation avancée et préparation activation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542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Session avancée points focaux : Gestion des délibérations, export de données, rapports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9103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Préparation matériel campagne : Affiches, dépliants avec QR code et instructions d'activation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5166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14h00-16h00  |  Test grandeur nature : Simulation complète du workflow (inscription &gt; notes &gt; paiement &gt; consultation)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5422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16h00-17h00  |  Collecte des retours : Identification des problèmes éventuels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57698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Jeudi 19 -- LANCEMENT CAMPAGNE D'ACTIVATION ÉTUDIANTS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0899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8h00-9h00  |  Affichage dans les amphithéâtres des 3 facultés : affiches avec instructions d'activation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6309360"/>
            <a:ext cx="8595360" cy="320040"/>
          </a:xfrm>
          <a:prstGeom prst="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327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Objectif fin S4 : 15 000 - 20 000 comptes activés (30-40%)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S5 -- Lundi 23 au Vendredi 27 Février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Facultés : FST (4 758) / FPSE (3 005) / FSSAP (2 990)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10 753 nouveaux étudiants concernés + Évaluation et correctifs Vague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Lundi 23 -- Évaluation Vague 1 + Formation points focaux Vague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Évaluation Vague 1 : Analyse des retours des 3 premières facultés, taux d'activation, problèmes signalés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Définition charge correctifs : Priorisation des bugs et améliorations demandées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14h00-16h30  |  Formation points focaux FST + FPSE + FSSAP (24 départements, 24 points focaux)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5511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16h30-17h00  |  Correctifs en cours de déploiement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898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Mardi 24 -- Formation enseignants Vague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Formation enseignants FST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Formation enseignants FPSE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14h00-16h00  |  Formation enseignants FSSAP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16h00-17h00  |  Formation personnel administratif des 3 facultés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433425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Mercredi 25 -- Préparation + 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542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8h00-12h00  |  Session avancée points focaux + test grandeur nature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9103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14h00-17h00  |  Déploiement correctifs Vague 1 + préparation campagne activation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5257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Jeudi 26 -- Lancement activation Vague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577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8h00-12h00  |  Stands d'assistance FST + FPSE + FSSAP - activation comptes étudiants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58338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14h00-17h00  |  Continuation activations + support technique permanent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6309360"/>
            <a:ext cx="8595360" cy="320040"/>
          </a:xfrm>
          <a:prstGeom prst="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327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Objectif fin S5 : 28 000 - 33 000 comptes activés (55-65%)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S6 -- Lundi 2 au Vendredi 6 Mars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Facultés : FLSH (2 268) / FMEDD (1 554) / FSAE (1 510)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5 332 nouveaux étudiants concernés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Lundi 2 -- Évaluation Vague 2 + Formation points focaux Vague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Évaluation Vague 2 + bilan correctifs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0391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Charge de travail restante et planning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14h00-16h30  |  Formation points focaux FLSH (26 dépt.) + FMEDD (3 dépt.) + FSAE (16 dépt.) = 45 points focaux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6426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Mardi 3 -- Formation enseignants Vague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8h00-10h00  |  Formation enseignants FLSH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10h00-12h00  |  Formation enseignants FMEDD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14h00-16h00  |  Formation enseignants FSAE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16h00-17h00  |  Personnel administratif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407822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Mercredi 4 -- Tests + préparation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982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8h00-17h00  |  Session avancée, tests, préparation campagne, correctifs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Jeudi 5 -- Activation Vague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0657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8h00-17h00  |  Stands activation FLSH + FMEDD + FSAE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54132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Vendredi 6 -- Suivi + bilan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7332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8h00-17h00  |  Activations, support, bilan S6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6309360"/>
            <a:ext cx="8595360" cy="320040"/>
          </a:xfrm>
          <a:prstGeom prst="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327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Objectif fin S6 : 38 000 - 42 000 comptes activés (75-83%)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S7 -- Lundi 9 au Vendredi 13 Mars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Facultés : FSPHAR (1 197) / FPGER (850) / FPOLY (744)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2 791 nouveaux étudiants concernés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Lundi 9 -- Évaluation Vague 3 + Formation points focaux Vague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Évaluation Vague 3 + Formation points focaux FSPHAR + FPGER + FPOLY (22 dépt.)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2130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Mardi 10 -- Formation enseignants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Formation enseignants des 3 facultés + personnel administratif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7980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Mercredi 11 -- Session avancée + tests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Session avancée + tests + correctifs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4655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Jeudi 12 -- Activation Vague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Activation comptes étudiants FSPHAR + FPGER + FPOLY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41330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Vendredi 13 -- Suivi + bilan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Suivi activations + bilan S7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6309360"/>
            <a:ext cx="8595360" cy="320040"/>
          </a:xfrm>
          <a:prstGeom prst="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327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Objectif fin S7 : 44 000 - 47 000 comptes activés (87-93%)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S8 -- Lundi 16 au Mercredi 18 Mars 2026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Facultés : FMEDV (170) / ESPD (12) / FSC (0)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Dernières facultés (182 étudiants restants)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Lundi 16 -- Formation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Formation points focaux + enseignants FMEDV + ESPD + FSC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2130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Mardi 17 -- Activation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Activation comptes FMEDV + ESPD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7980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Mercredi 18 -- Bilan final activations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Bilan final des activations - Toutes les 15 facultés couvertes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346557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Jeu 19 - Ven 20 -- Rattrapage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Journée  |  Rattrapage et support pour les étudiants des vagues précédentes n'ayant pas encore activé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6309360"/>
            <a:ext cx="8595360" cy="320040"/>
          </a:xfrm>
          <a:prstGeom prst="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327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Objectif fin S8 : 48 000+ comptes activés (95%+)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SEMAINES 9 À 13 -- PHASES FINALES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22960"/>
          </a:xfrm>
          <a:prstGeom prst="rect">
            <a:avLst>
              <a:gd name="adj" fmla="val 5556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 au 27 Mars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8288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CONSOLIDATION ET CORRECTIFS GLOBAUX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global : État de chaque faculté, taux d'adoption, prob... | Sprint correctifs : Résolution de tous les bugs signalés pen... | Optimisation performance : Amélioration des temps de chargem...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1371600" cy="822960"/>
          </a:xfrm>
          <a:prstGeom prst="rect">
            <a:avLst>
              <a:gd name="adj" fmla="val 5556"/>
            </a:avLst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S10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Mars au 3 Avril 2026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IMPORT DES DONNÉES COMPLÉMENTAIRES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331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Import des enseignants : récupération des listes, création d... | Import des cours : catalogues, crédits, semestres, affectati... | Import des emplois du temps : horaires, salles, fréquences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1371600" cy="822960"/>
          </a:xfrm>
          <a:prstGeom prst="rect">
            <a:avLst>
              <a:gd name="adj" fmla="val 5556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S11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au 10 Avril 2026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MODULES AVANCÉS ET INTÉGRATIONS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429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Configuration du système de notification (email/SMS pour not... | Mise en place du chatbot IA pour l'assistance étudiante | Intégration paiement mobile (Mobile Money, banques partenair...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1371600" cy="822960"/>
          </a:xfrm>
          <a:prstGeom prst="rect">
            <a:avLst>
              <a:gd name="adj" fmla="val 5556"/>
            </a:avLst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S12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au 17 Avril 2026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8288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TESTS FINAUX ET DOCUMENTATION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de charge : Simulation de 5 000+ connexions simultanées | Test de sécurité : Audit des vulnérabilités, test de pénétra... | Documentation finale : Guides utilisateurs (étudiant, enseig...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5303520"/>
            <a:ext cx="1371600" cy="822960"/>
          </a:xfrm>
          <a:prstGeom prst="rect">
            <a:avLst>
              <a:gd name="adj" fmla="val 5556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5349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S13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" y="5715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 au 30 Avril 2026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82880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LANCEMENT OFFICIEL ET TRANSITION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5623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Cérémonie de lancement officiel avec le Recteur | Période de rodage : Support intensif, corrections en temps r... | Transfert de compétences final à l'équipe informatique UNIKI...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JALONS ET INDICATEURS DE SUIVI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914400"/>
                <a:gridCol w="4206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Jalon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Indicateur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Plateforme en ligne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30 Jan.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FAIT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Accessible via IP publique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50 407 étudiants intégrés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 Fév.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FAIT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Base de données complète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93 349 paiements importés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 Fév.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FAIT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Historique financier disponible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Passerelle activation opérationnelle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 Fév.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</a:rPr>
                        <a:t>FAIT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Processus testé et fonctionnel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Vague 1 - 3 premières facultés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20 Fév.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15 000+ activations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Vague 2 - 6 facultés cumulées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27 Fév.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30 000+ activations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Vague 3 - 9 facultés cumulées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 Mars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40 000+ activations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Vague 4 - 12 facultés cumulées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 Mars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46 000+ activations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Vague 5 - 15/15 facultés couvertes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18 Mars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48 000+ activations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Consolidation + correctifs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27 Mars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95%+ d'adoption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Import enseignants + cours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 Avril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Workflows complets opérationnels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Tests finaux + documentation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17 Avril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Plateforme validée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Lancement officiel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20 Avril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Cérémonie avec le Recteur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Livraison définitive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30 Avril 2026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6B9E"/>
                          </a:solidFill>
                        </a:rPr>
                        <a:t>À VENIR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Transfert de compétences achevé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NEXUS UNIKIN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semaines pour transformer la gestion universitaire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50 407 étudiants</a:t>
            </a:r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facultés</a:t>
            </a:r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93 349 paiements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Janvier - 30 Avril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Calendrier de Déploiement - NEXUS UNIKIN</dc:title>
  <dc:subject>PptxGenJS Presentation</dc:subject>
  <dc:creator>NEXUS UNIKIN</dc:creator>
  <cp:lastModifiedBy>NEXUS UNIKIN</cp:lastModifiedBy>
  <cp:revision>1</cp:revision>
  <dcterms:created xsi:type="dcterms:W3CDTF">2026-02-13T10:09:47Z</dcterms:created>
  <dcterms:modified xsi:type="dcterms:W3CDTF">2026-02-13T10:09:47Z</dcterms:modified>
</cp:coreProperties>
</file>